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b861a95ed4a0d" /><Relationship Type="http://schemas.openxmlformats.org/officeDocument/2006/relationships/extended-properties" Target="/docProps/app.xml" Id="Ra475d03df87b4cd1" /><Relationship Type="http://schemas.openxmlformats.org/officeDocument/2006/relationships/officeDocument" Target="/ppt/presentation.xml" Id="Rb899347b1f9b43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1e9fc62f74364"/>
  </p:sldMasterIdLst>
  <p:notesMasterIdLst>
    <p:notesMasterId xmlns:r="http://schemas.openxmlformats.org/officeDocument/2006/relationships" r:id="Rff10a7c5d44f4da6"/>
  </p:notesMasterIdLst>
  <p:sldIdLst>
    <p:sldId xmlns:r="http://schemas.openxmlformats.org/officeDocument/2006/relationships" id="256" r:id="Rb2e8649f790b4b7b"/>
    <p:sldId xmlns:r="http://schemas.openxmlformats.org/officeDocument/2006/relationships" id="257" r:id="R366c43a603d64810"/>
    <p:sldId xmlns:r="http://schemas.openxmlformats.org/officeDocument/2006/relationships" id="258" r:id="R6ff9688f6f464f3b"/>
    <p:sldId xmlns:r="http://schemas.openxmlformats.org/officeDocument/2006/relationships" id="259" r:id="R32187650a8fd4e47"/>
    <p:sldId xmlns:r="http://schemas.openxmlformats.org/officeDocument/2006/relationships" id="260" r:id="Ra181baf02c694bef"/>
    <p:sldId xmlns:r="http://schemas.openxmlformats.org/officeDocument/2006/relationships" id="261" r:id="R864152fc86624ed1"/>
    <p:sldId xmlns:r="http://schemas.openxmlformats.org/officeDocument/2006/relationships" id="262" r:id="Rfba9c6f449774075"/>
    <p:sldId xmlns:r="http://schemas.openxmlformats.org/officeDocument/2006/relationships" id="263" r:id="R899930174940483c"/>
    <p:sldId xmlns:r="http://schemas.openxmlformats.org/officeDocument/2006/relationships" id="264" r:id="R1aec382431714197"/>
    <p:sldId xmlns:r="http://schemas.openxmlformats.org/officeDocument/2006/relationships" id="265" r:id="Rb2dbb262062c43cd"/>
    <p:sldId xmlns:r="http://schemas.openxmlformats.org/officeDocument/2006/relationships" id="266" r:id="Re9ed2a15609142e1"/>
    <p:sldId xmlns:r="http://schemas.openxmlformats.org/officeDocument/2006/relationships" id="267" r:id="R8dcb4d9ea20a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4b30b9773414a" /><Relationship Type="http://schemas.openxmlformats.org/officeDocument/2006/relationships/slideMaster" Target="/ppt/slideMasters/slideMaster1.xml" Id="R1021e9fc62f74364" /><Relationship Type="http://schemas.openxmlformats.org/officeDocument/2006/relationships/notesMaster" Target="/ppt/notesMasters/notesMaster1.xml" Id="Rff10a7c5d44f4da6" /><Relationship Type="http://schemas.openxmlformats.org/officeDocument/2006/relationships/presProps" Target="/ppt/presProps.xml" Id="R9f0778b0777948e1" /><Relationship Type="http://schemas.openxmlformats.org/officeDocument/2006/relationships/tableStyles" Target="/ppt/tableStyles.xml" Id="R26118ecac8a4466d" /><Relationship Type="http://schemas.openxmlformats.org/officeDocument/2006/relationships/slide" Target="/ppt/slides/slide1.xml" Id="Rb2e8649f790b4b7b" /><Relationship Type="http://schemas.openxmlformats.org/officeDocument/2006/relationships/slide" Target="/ppt/slides/slide2.xml" Id="R366c43a603d64810" /><Relationship Type="http://schemas.openxmlformats.org/officeDocument/2006/relationships/slide" Target="/ppt/slides/slide3.xml" Id="R6ff9688f6f464f3b" /><Relationship Type="http://schemas.openxmlformats.org/officeDocument/2006/relationships/slide" Target="/ppt/slides/slide4.xml" Id="R32187650a8fd4e47" /><Relationship Type="http://schemas.openxmlformats.org/officeDocument/2006/relationships/slide" Target="/ppt/slides/slide5.xml" Id="Ra181baf02c694bef" /><Relationship Type="http://schemas.openxmlformats.org/officeDocument/2006/relationships/slide" Target="/ppt/slides/slide6.xml" Id="R864152fc86624ed1" /><Relationship Type="http://schemas.openxmlformats.org/officeDocument/2006/relationships/slide" Target="/ppt/slides/slide7.xml" Id="Rfba9c6f449774075" /><Relationship Type="http://schemas.openxmlformats.org/officeDocument/2006/relationships/slide" Target="/ppt/slides/slide8.xml" Id="R899930174940483c" /><Relationship Type="http://schemas.openxmlformats.org/officeDocument/2006/relationships/slide" Target="/ppt/slides/slide9.xml" Id="R1aec382431714197" /><Relationship Type="http://schemas.openxmlformats.org/officeDocument/2006/relationships/slide" Target="/ppt/slides/slide10.xml" Id="Rb2dbb262062c43cd" /><Relationship Type="http://schemas.openxmlformats.org/officeDocument/2006/relationships/slide" Target="/ppt/slides/slide11.xml" Id="Re9ed2a15609142e1" /><Relationship Type="http://schemas.openxmlformats.org/officeDocument/2006/relationships/slide" Target="/ppt/slides/slide12.xml" Id="R8dcb4d9ea20a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3fc0cdc05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eee2417e1482a" /><Relationship Type="http://schemas.openxmlformats.org/officeDocument/2006/relationships/notesMaster" Target="/ppt/notesMasters/notesMaster1.xml" Id="Rfa4ac702f0e644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5605baaca4a82" /><Relationship Type="http://schemas.openxmlformats.org/officeDocument/2006/relationships/notesMaster" Target="/ppt/notesMasters/notesMaster1.xml" Id="R97a289977b904f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af1e78c364f32" /><Relationship Type="http://schemas.openxmlformats.org/officeDocument/2006/relationships/notesMaster" Target="/ppt/notesMasters/notesMaster1.xml" Id="R8b44795211ed49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24fcaa75304fe2" /><Relationship Type="http://schemas.openxmlformats.org/officeDocument/2006/relationships/notesMaster" Target="/ppt/notesMasters/notesMaster1.xml" Id="R2f3538f7c3594e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f105c31be4c38" /><Relationship Type="http://schemas.openxmlformats.org/officeDocument/2006/relationships/notesMaster" Target="/ppt/notesMasters/notesMaster1.xml" Id="R39b4f75899b94b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d26cffcb94e5c" /><Relationship Type="http://schemas.openxmlformats.org/officeDocument/2006/relationships/notesMaster" Target="/ppt/notesMasters/notesMaster1.xml" Id="R8f13b8db588c43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8e1c6214a4a58" /><Relationship Type="http://schemas.openxmlformats.org/officeDocument/2006/relationships/notesMaster" Target="/ppt/notesMasters/notesMaster1.xml" Id="Rc94c188a47b5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58638de3e046ac" /><Relationship Type="http://schemas.openxmlformats.org/officeDocument/2006/relationships/notesMaster" Target="/ppt/notesMasters/notesMaster1.xml" Id="Rc76c7b29c17c4a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997a36812045e7" /><Relationship Type="http://schemas.openxmlformats.org/officeDocument/2006/relationships/notesMaster" Target="/ppt/notesMasters/notesMaster1.xml" Id="R7123b07b418642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b134fd4a384b2a" /><Relationship Type="http://schemas.openxmlformats.org/officeDocument/2006/relationships/notesMaster" Target="/ppt/notesMasters/notesMaster1.xml" Id="Rab2f1131549d43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5cd47e4cc448e5" /><Relationship Type="http://schemas.openxmlformats.org/officeDocument/2006/relationships/notesMaster" Target="/ppt/notesMasters/notesMaster1.xml" Id="R9c1924164c894d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af9cc0a9304c94" /><Relationship Type="http://schemas.openxmlformats.org/officeDocument/2006/relationships/notesMaster" Target="/ppt/notesMasters/notesMaster1.xml" Id="R75335ae0927c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Positioning based on implemented product, not validated commercial demand. Sources: client/src/pages/Home.tsx; shared/learning.ts.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hypothesis. No customer research, market size, user counts or learning-outcome metrics supplied or inferred. Sources: Home.tsx; LearningDashboard.tsx.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journey derived from Home.tsx onboarding, shared/intro-progress.ts, pace.ts, learning.ts and project-blueprint.ts. Planning uses curated rules, not AI-generated curriculum.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isolated local guest screenshot captured 27 September 2026. Source: LearningDashboard.tsx; shared/weekly-plan.ts. Times are authored estimates, not efficacy evidence.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isolated local guest screenshot captured 27 September 2026. Source: client/src/lib/sql-worker.ts; shared/sql-engine.ts; run-python.ts; shared/python-practice.ts. Actual SQL Query passed observed. Separate Python sum exercise passed four datasets.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isolated local guest screenshot captured 27 September 2026. Source: ProjectBlueprint.tsx; ProjectChecklist.tsx. Exports do not automatically publish or package a hosted portfolio.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simplified architecture. Optional AI and Sentry omitted from this summary only. Sources: drizzle/schema.ts; server/db.ts; server/_core/index.ts; worker adapters.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recomputed from shared/catalog.ts: 22 careers, 28 skills, 254 topic entries, 9 industry contexts including general. Version 2026.09.23. No market-sizing or adoption evidence supplied.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suite passed 25 September: 282 tests, 40 files. Prior disposable PostgreSQL integration passed. Current normal preview DB and production Neon are unconfigured/unverified. Smoke test has stale selectors. Sources: VALIDATION.md; tests.log; e2e/learning.smoke.spec.ts.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Coach requires authentication and consent. Topic allowlist and structured validation. No RAG, model tools or plan mutation. Monthly dollar cap is application-wide, not per user. Sources: routers.ts; ai-config.ts; ai-budget.ts; _core/llm.ts.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Recommendations, not scheduled commitments or completed milestones. Sources: Technical Reference section 22; CONTENT_AUDIT.md; schema/routers and e2e test. No dates or budgets invented.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Intentional placeholders requested by the user. No team credentials, amount, business model, revenue or runway were provided. Complete with substantiated facts before external circulation.</a:t>
            </a:r>
          </a:p>
          <a:p xmlns:a="http://schemas.openxmlformats.org/drawingml/2006/main">
            <a:r>
              <a:t>Application baseline 88c1d89; documentation checkout 844dee8. Reviewed 27 September 2026. Existing DataPath_Technical_Reference.pdf supplemented by current source and local capture. Production deployment and live AI quality are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de239fba546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635fea2844b15" /><Relationship Type="http://schemas.openxmlformats.org/officeDocument/2006/relationships/slideLayout" Target="/ppt/slideLayouts/slideLayout1.xml" Id="R47a11194b75b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11194b75b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edf40a2344d84" /><Relationship Type="http://schemas.openxmlformats.org/officeDocument/2006/relationships/notesSlide" Target="/ppt/notesSlides/notesSlide1.xml" Id="R5377fed3535b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a22f5f13e4be8" /><Relationship Type="http://schemas.openxmlformats.org/officeDocument/2006/relationships/notesSlide" Target="/ppt/notesSlides/notesSlide2.xml" Id="R60dd12d7c113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def2beab542f9" /><Relationship Type="http://schemas.openxmlformats.org/officeDocument/2006/relationships/notesSlide" Target="/ppt/notesSlides/notesSlide3.xml" Id="R42ec1869eb414d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b1470620f417d" /><Relationship Type="http://schemas.openxmlformats.org/officeDocument/2006/relationships/image" Target="/ppt/media/image.png" Id="R60e11131764e4ae3" /><Relationship Type="http://schemas.openxmlformats.org/officeDocument/2006/relationships/notesSlide" Target="/ppt/notesSlides/notesSlide4.xml" Id="Rf0abf2ec8a58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9a6479094485b" /><Relationship Type="http://schemas.openxmlformats.org/officeDocument/2006/relationships/image" Target="/ppt/media/image2.png" Id="Rc506cbb2ea944a7f" /><Relationship Type="http://schemas.openxmlformats.org/officeDocument/2006/relationships/notesSlide" Target="/ppt/notesSlides/notesSlide5.xml" Id="Rc317db192943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278481f0749bb" /><Relationship Type="http://schemas.openxmlformats.org/officeDocument/2006/relationships/image" Target="/ppt/media/image3.png" Id="R527e4a5858974528" /><Relationship Type="http://schemas.openxmlformats.org/officeDocument/2006/relationships/notesSlide" Target="/ppt/notesSlides/notesSlide6.xml" Id="Rb7ebfbd70a854e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bdbfb64d34617" /><Relationship Type="http://schemas.openxmlformats.org/officeDocument/2006/relationships/notesSlide" Target="/ppt/notesSlides/notesSlide7.xml" Id="R55cc8ad6ba4c46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268369d3a40ec" /><Relationship Type="http://schemas.openxmlformats.org/officeDocument/2006/relationships/notesSlide" Target="/ppt/notesSlides/notesSlide8.xml" Id="R63ffb1ca352a4c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e2f9596374608" /><Relationship Type="http://schemas.openxmlformats.org/officeDocument/2006/relationships/notesSlide" Target="/ppt/notesSlides/notesSlide9.xml" Id="R0bf6610e116c4c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4ed21e0648fe" /><Relationship Type="http://schemas.openxmlformats.org/officeDocument/2006/relationships/notesSlide" Target="/ppt/notesSlides/notesSlide10.xml" Id="R2eeec38e925b4f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c9615ea954676" /><Relationship Type="http://schemas.openxmlformats.org/officeDocument/2006/relationships/notesSlide" Target="/ppt/notesSlides/notesSlide11.xml" Id="R2eeeb25e25134c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c258daa684ef8" /><Relationship Type="http://schemas.openxmlformats.org/officeDocument/2006/relationships/notesSlide" Target="/ppt/notesSlides/notesSlide12.xml" Id="R90d1b91043f840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0722E-79F3-4D31-872D-1393549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E16E-9268-4184-9B03-4FF8D823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rPr>
              <a:t>01   Local product preview /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93915-45CC-4540-A1D9-CF307C52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5E9AE-423D-440B-8841-8855E28E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learning workspace for data careers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813B8-8FE7-46EB-A7BA-A0E05B20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Personalized paths, hands-on practice and portfolio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9DF6A-621B-42C9-97F2-5C7D197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EBF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EBFE2"/>
                </a:solidFill>
                <a:latin typeface="Helvetica Neue"/>
                <a:ea typeface="Helvetica Neue"/>
                <a:cs typeface="Helvetica Neue"/>
              </a:rPr>
              <a:t>PRE-LAUNCH PRODUCT REVIEW</a:t>
            </a:r>
          </a:p>
        </p:txBody>
      </p:sp>
    </p:spTree>
    <p:extLst>
      <p:ext uri="{BB962C8B-B14F-4D97-AF65-F5344CB8AC3E}">
        <p14:creationId xmlns:p14="http://schemas.microsoft.com/office/powerpoint/2010/main" val="878515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38444-4CD5-4267-862A-3CBA5472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E7B31-5205-4A84-8D09-C3A2504A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The learner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1881-5FF2-466F-9E96-F14295EC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02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08291-8400-4BEC-9697-3AE3DCC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Where do I start?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E687C-27F8-48D5-B254-21448D5C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62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What should I practise?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60E27-4B7A-4AA9-A066-9613B4C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What work can I show?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C8260-0C58-4EB6-9C8B-AD6C51C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Product hypothesis: learners benefit from a connected route through these questions.</a:t>
            </a:r>
          </a:p>
        </p:txBody>
      </p:sp>
    </p:spTree>
    <p:extLst>
      <p:ext uri="{BB962C8B-B14F-4D97-AF65-F5344CB8AC3E}">
        <p14:creationId xmlns:p14="http://schemas.microsoft.com/office/powerpoint/2010/main" val="60479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53F26-3FE9-4D54-B850-9DA55FD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2CA5B-AA5F-4BB0-8E12-4339407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The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20B3-4492-43A4-B568-4C4CD82C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03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62B27-89AA-4C16-B347-DE89031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37270-9342-4E70-94D1-AB0D0584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Choose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28CB6-9EE7-42AD-8A75-F0CC738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24275"/>
            <a:ext cx="1981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Career or focused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5ACE3-4D21-42EF-B11D-70B9762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6697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F0A71-6350-401F-BC94-7A18B4E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A609D-27FB-4930-893C-C09ADAE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00DC1-A0B2-4EBA-9B37-4FEB1AF0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24275"/>
            <a:ext cx="1981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Starting point and 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47B22-660F-4FB4-B4AC-EDD0159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6697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B71F6-AD81-40D3-8EE5-440DF80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057EB-787B-4F34-8605-379941BD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48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59325-908C-45BA-99D4-A714541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724275"/>
            <a:ext cx="1981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Lessons and foundations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C3CA7-CB78-402A-874B-F0DB33BB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6697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216B4-A86B-47F7-93D0-9B5196C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8998B-7DB9-4AED-9849-95D5E62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Practise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50CC0-BFC9-4F25-A90D-1E8791E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1981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Exercises and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97E51-F09A-48FC-8343-5AF1F9C6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6697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2F20F-7905-4CB0-BE34-186DEC19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B4AC2-882D-4EE2-B6FC-B8309297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4800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Demonstrate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7C2EC-60BA-4273-B86E-59A9003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24275"/>
            <a:ext cx="1981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Project and career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D4456-388A-4496-A03D-DDD2E8C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149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Industry context shapes examples and project direction. Learners can adjust their plan.</a:t>
            </a:r>
          </a:p>
        </p:txBody>
      </p:sp>
    </p:spTree>
    <p:extLst>
      <p:ext uri="{BB962C8B-B14F-4D97-AF65-F5344CB8AC3E}">
        <p14:creationId xmlns:p14="http://schemas.microsoft.com/office/powerpoint/2010/main" val="1960555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15427-330C-4E0C-A9C5-023FDC8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E74AC-3AA3-4AB1-AB77-C57AA78C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One clear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26252-2D41-4CD4-AD17-D64CC1A0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04   Local product preview / September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11131764e4ae3"/>
          <a:stretch xmlns:a="http://schemas.openxmlformats.org/drawingml/2006/main"/>
        </p:blipFill>
        <p:spPr>
          <a:xfrm xmlns:a="http://schemas.openxmlformats.org/drawingml/2006/main">
            <a:off x="4668339" y="1628775"/>
            <a:ext cx="6322423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5FCA9-412B-443E-96AA-B626519A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257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A personal path</a:t>
            </a:r>
          </a:p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and a manageable</a:t>
            </a:r>
          </a:p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weekly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06785-EC04-4983-BCBE-22AD508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Current local guest UI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Data Analyst / Banking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64888-9CF7-4864-BC67-A3E9D61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3783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DE129-28D6-47D8-A577-8A2E66C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71083-AA4D-4D73-9DC4-F5BF655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Practice with executable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D4BE-C692-431A-9309-B3C0AE4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05   Local product preview / September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6cbb2ea944a7f"/>
          <a:stretch xmlns:a="http://schemas.openxmlformats.org/drawingml/2006/main"/>
        </p:blipFill>
        <p:spPr>
          <a:xfrm xmlns:a="http://schemas.openxmlformats.org/drawingml/2006/main">
            <a:off x="4668339" y="1628775"/>
            <a:ext cx="6322423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7CFAC-2AC1-4601-AADF-F3D0F6D7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257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Real SQL execution</a:t>
            </a:r>
          </a:p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in the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F1374-4220-43EE-9F31-C9910AA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The captured answer passed.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Python exercises also run locally.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885C-36D9-4774-9F6B-FA4222E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Synthetic example data</a:t>
            </a:r>
          </a:p>
        </p:txBody>
      </p:sp>
    </p:spTree>
    <p:extLst>
      <p:ext uri="{BB962C8B-B14F-4D97-AF65-F5344CB8AC3E}">
        <p14:creationId xmlns:p14="http://schemas.microsoft.com/office/powerpoint/2010/main" val="520854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8139C-CDD6-4610-866B-5ABDE58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C6E9E-3319-4730-8E4B-2E23C3E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Learning can become work to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1D9F8-8964-42B0-899D-C738D1B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06   Local product preview / September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e4a5858974528"/>
          <a:stretch xmlns:a="http://schemas.openxmlformats.org/drawingml/2006/main"/>
        </p:blipFill>
        <p:spPr>
          <a:xfrm xmlns:a="http://schemas.openxmlformats.org/drawingml/2006/main">
            <a:off x="4668339" y="1628775"/>
            <a:ext cx="6322423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588-08BD-4D17-9DC5-5C98084D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257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Project milestones</a:t>
            </a:r>
          </a:p>
          <a:p xmlns:a="http://schemas.openxmlformats.org/drawingml/2006/main">
            <a:pPr>
              <a:def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with review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64E1C-4E2A-41E0-865E-D43A7F6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29075"/>
            <a:ext cx="31908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Starter data, evidence notes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and downloadable checklists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EE951-058F-4CAC-AC83-F69B919A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Learner self-review</a:t>
            </a:r>
          </a:p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No independent certification</a:t>
            </a:r>
          </a:p>
        </p:txBody>
      </p:sp>
    </p:spTree>
    <p:extLst>
      <p:ext uri="{BB962C8B-B14F-4D97-AF65-F5344CB8AC3E}">
        <p14:creationId xmlns:p14="http://schemas.microsoft.com/office/powerpoint/2010/main" val="804923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0C120-CF39-46E1-9089-1E39F07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3B767-C70F-4BD9-904E-1E3F4DC8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Technical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EA1FF-02DF-4979-95DA-D9B1915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07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C8385-75E6-4BE3-B401-794AFFA4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4762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AEC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BEB79-B7D3-48EF-AFF1-F09F37E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Learner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C69B0-0980-4DEE-8E88-24944459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90800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React workspace</a:t>
            </a:r>
          </a:p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PGlite SQL and Pyodide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C3470-0C47-433F-91CC-137EBD1E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762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AEC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3B3E5-859C-4859-A2DA-A51818A6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Application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F3329-61AC-4224-8904-F8A0717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4419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Express and tRPC</a:t>
            </a:r>
          </a:p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Validation and revocable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D1A7F-22CB-4B21-AD66-67E9B42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8096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8E880-59C5-4B50-85EC-32B4E862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47625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AEC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832FF-0EE1-4F74-8FBA-2B2EE239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95775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BA798-EF33-472F-8833-AD29B13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14875"/>
            <a:ext cx="4419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Accounts, snapshots and AI accounting</a:t>
            </a:r>
          </a:p>
          <a:p xmlns:a="http://schemas.openxmlformats.org/drawingml/2006/main">
            <a:pPr>
              <a:def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Backend implemented; preview unconnected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7F43C-11D6-4452-BC71-AB46C8E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667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55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AFF99-B385-4699-AD9D-2CCF4F6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Practice runs on the learner device.</a:t>
            </a:r>
          </a:p>
          <a:p xmlns:a="http://schemas.openxmlformats.org/drawingml/2006/main">
            <a:pPr>
              <a:defRPr sz="21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Account data uses the server.</a:t>
            </a:r>
          </a:p>
        </p:txBody>
      </p:sp>
    </p:spTree>
    <p:extLst>
      <p:ext uri="{BB962C8B-B14F-4D97-AF65-F5344CB8AC3E}">
        <p14:creationId xmlns:p14="http://schemas.microsoft.com/office/powerpoint/2010/main" val="1742526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4717A-986C-4DA1-AAA2-2463BDA2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8741E-EEE5-41E7-9D7A-01B3178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A36BD-FB7E-4504-9838-E106B66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rPr>
              <a:t>08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FF0E-E390-4971-A46F-3D1B8320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027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629F-E90A-449F-8100-EC6EF49F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careers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AF6D6-8DDD-43D9-9068-C35D1E9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0027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D890C-F7BB-4E0A-B97B-483AFC7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38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5B856-A224-4827-94E1-2F13915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027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E182E-F682-4C68-A1C5-30FB1FE3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38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A87BD-59CF-4A99-9072-B5A2AD8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027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1C6CC-3953-4468-9D07-901E843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38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industry contexts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FDB37-8D48-43FF-93DD-7890E41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Catalog coverage, not traction. Content depth varies by topic.</a:t>
            </a:r>
          </a:p>
        </p:txBody>
      </p:sp>
    </p:spTree>
    <p:extLst>
      <p:ext uri="{BB962C8B-B14F-4D97-AF65-F5344CB8AC3E}">
        <p14:creationId xmlns:p14="http://schemas.microsoft.com/office/powerpoint/2010/main" val="740999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56620-144D-4ECB-AD1B-103E761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6040E-373C-4DA8-8C4C-7ACB8C92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Built and still to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51991-A9C0-4B38-B77F-E3267EB3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09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FFDC7-AA45-4FC6-8839-273D5979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43100"/>
            <a:ext cx="5095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Implemented and locally demonstrated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52D0-C6EA-4FE4-B6AE-44F2659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50482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Path planning and learning workspace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SQL and Python practice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Progress records and project exports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CV draft and application 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92FC2-8F99-4741-B5F5-40783288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500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Pre-launch acceptance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E151C-72CD-4B0D-8D43-AD205D5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67025"/>
            <a:ext cx="500062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Connect and verify the intended database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Validate production deployment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Configure and evaluate optional AI</a:t>
            </a:r>
          </a:p>
          <a:p xmlns:a="http://schemas.openxmlformats.org/drawingml/2006/main">
            <a:pPr>
              <a:def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Refresh the complete browser smoke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2F4FA-638F-4B8D-96CB-19465D6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007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282 unit tests passed. That is not production acceptance.</a:t>
            </a:r>
          </a:p>
        </p:txBody>
      </p:sp>
    </p:spTree>
    <p:extLst>
      <p:ext uri="{BB962C8B-B14F-4D97-AF65-F5344CB8AC3E}">
        <p14:creationId xmlns:p14="http://schemas.microsoft.com/office/powerpoint/2010/main" val="20282509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C040-F189-40A8-9E84-4DB50FC1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D7BE4-AC64-41FC-8221-ECACED8C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Optional AI with defined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613F2-C65C-4C9A-8940-DB57B1A6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10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EA77D-D1C1-44B7-80D4-8C18E01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561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Explain gaps</a:t>
            </a:r>
          </a:p>
          <a:p xmlns:a="http://schemas.openxmlformats.org/drawingml/2006/main">
            <a:pPr>
              <a:def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Review interview answers</a:t>
            </a:r>
          </a:p>
          <a:p xmlns:a="http://schemas.openxmlformats.org/drawingml/2006/main">
            <a:pPr>
              <a:def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Help improve CV wording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28CB-7004-4210-AB30-4E1A153A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66725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Consent before sharing</a:t>
            </a:r>
          </a:p>
          <a:p xmlns:a="http://schemas.openxmlformats.org/drawingml/2006/main">
            <a:pPr>
              <a:def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Explicit model configuration</a:t>
            </a:r>
          </a:p>
          <a:p xmlns:a="http://schemas.openxmlformats.org/drawingml/2006/main">
            <a:pPr>
              <a:def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Timeout and one retry</a:t>
            </a:r>
          </a:p>
          <a:p xmlns:a="http://schemas.openxmlformats.org/drawingml/2006/main">
            <a:pPr>
              <a:def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Usage limit and monthly spend 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0F221-40E3-4078-93FB-7AA65B2C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Unconfigured in this preview. Live accuracy and provider billing are unverified.</a:t>
            </a:r>
          </a:p>
        </p:txBody>
      </p:sp>
    </p:spTree>
    <p:extLst>
      <p:ext uri="{BB962C8B-B14F-4D97-AF65-F5344CB8AC3E}">
        <p14:creationId xmlns:p14="http://schemas.microsoft.com/office/powerpoint/2010/main" val="777737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CD741-3D30-4679-B338-4F8E76B8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0A4C-C67D-4C2E-ACDC-41E8568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Near-term engineering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9D978-E6D1-4BF4-9999-BF897BC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11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77DF-11C7-4F36-A54B-67757281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3832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59DAD-EFB2-4F2D-8EB3-75718FD4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38325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Verify the operating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CD58E-516F-4603-86E8-856AB0DC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860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Database connection, migrations and restore rehearsal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50885-9B0F-483B-BB4D-D0EFA82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6702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864B1-B9CD-48AC-BA50-C8A25975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67025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Close the acceptance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79E9A-3DF7-453E-934A-512E3A06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47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Current signup, practice and save smoke test; production worker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59E89-A3A9-435D-AEBE-E0689CF7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91A61-9BD5-45E5-ABC0-4B4E527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95725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Evaluate AI before making quality claims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6E74D-D6F9-4AEE-B8C2-E1253BF8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Representative examples, schema compatibility and usage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BBF97-A849-4BB1-A654-53E7A40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2442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B55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964D3-EE79-462D-8A37-287686A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24425"/>
            <a:ext cx="990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13A"/>
                </a:solidFill>
                <a:latin typeface="Helvetica Neue"/>
                <a:ea typeface="Helvetica Neue"/>
                <a:cs typeface="Helvetica Neue"/>
              </a:rPr>
              <a:t>Improve learner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23C93-D38B-44F4-9BBA-E378F72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27A"/>
                </a:solidFill>
                <a:latin typeface="Helvetica Neue"/>
                <a:ea typeface="Helvetica Neue"/>
                <a:cs typeface="Helvetica Neue"/>
              </a:rPr>
              <a:t>Account recovery, worked examples and Arabic review</a:t>
            </a:r>
          </a:p>
        </p:txBody>
      </p:sp>
    </p:spTree>
    <p:extLst>
      <p:ext uri="{BB962C8B-B14F-4D97-AF65-F5344CB8AC3E}">
        <p14:creationId xmlns:p14="http://schemas.microsoft.com/office/powerpoint/2010/main" val="229404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24B62-24FC-418C-ADD8-54C9D5F0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AE22F-995A-497A-BFEA-525A5B29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114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Team and funding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560F2-66A8-4D36-8F5B-1A3BF47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5DB"/>
                </a:solidFill>
                <a:latin typeface="Helvetica Neue"/>
                <a:ea typeface="Helvetica Neue"/>
                <a:cs typeface="Helvetica Neue"/>
              </a:rPr>
              <a:t>12   Local product preview /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E0E62-331B-4BD8-AEC0-DBD38B6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[Founder and team]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92610-6067-4C20-9CDA-9ACC79C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Add names, roles and relevant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0C37A-F587-40E8-AD4B-FC875C9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[Funding ask and use of funds]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72DF4-8635-4C1A-BFEA-8CD042BA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5D1E6"/>
                </a:solidFill>
                <a:latin typeface="Helvetica Neue"/>
                <a:ea typeface="Helvetica Neue"/>
                <a:cs typeface="Helvetica Neue"/>
              </a:rPr>
              <a:t>Add the amount, runway, milestones and contact details.</a:t>
            </a:r>
          </a:p>
        </p:txBody>
      </p:sp>
    </p:spTree>
    <p:extLst>
      <p:ext uri="{BB962C8B-B14F-4D97-AF65-F5344CB8AC3E}">
        <p14:creationId xmlns:p14="http://schemas.microsoft.com/office/powerpoint/2010/main" val="1389535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2026-09-27T15:45:21.7320000Z</dcterms:created>
  <dcterms:modified xsi:type="dcterms:W3CDTF">2026-09-27T15:45:21.7320000Z</dcterms:modified>
</coreProperties>
</file>